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2926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VOID HACKS 8.0 • INDORE POLICE CYBER CRIME CHALLENGE</a:t>
            </a:r>
          </a:p>
          <a:p>
            <a:pPr>
              <a:spcBef>
                <a:spcPts val="800"/>
              </a:spcBef>
              <a:defRPr sz="3600" b="1">
                <a:solidFill>
                  <a:srgbClr val="F8FAFC"/>
                </a:solidFill>
              </a:defRPr>
            </a:pPr>
            <a:r>
              <a:t>OPERATION ABHEDYA-CHAKRA</a:t>
            </a:r>
          </a:p>
          <a:p>
            <a:pPr>
              <a:spcBef>
                <a:spcPts val="600"/>
              </a:spcBef>
              <a:defRPr sz="1800">
                <a:solidFill>
                  <a:srgbClr val="F59E0B"/>
                </a:solidFill>
              </a:defRPr>
            </a:pPr>
            <a:r>
              <a:t>High-Throughput Mule Account Forensic Detection &amp; 4-Hop Money Flow Trace Engine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Phase 1 + Phase 2 Technical Deliverables &amp; Architecture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937760"/>
            <a:ext cx="10728655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7492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Target Dataset: 2,000,000 Real Transactions | Engine: DuckDB Columnar OLAP + Apache Parquet + FastAPI</a:t>
            </a:r>
          </a:p>
          <a:p>
            <a:pPr>
              <a:spcBef>
                <a:spcPts val="400"/>
              </a:spcBef>
              <a:defRPr sz="1200">
                <a:solidFill>
                  <a:srgbClr val="38BDF8"/>
                </a:solidFill>
              </a:defRPr>
            </a:pPr>
            <a:r>
              <a:t>GitHub Commit: 4c25a64 (Phase 1 + Phase 2 Step 0: Data Foundation, row_id, Validation)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Repository: https://github.com/cidhackathon-art/Void-Hack | Branch: master | Status: 100% Passed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Mission &amp; Core Engineering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Transforming high-volume transactional chaos into forensic evidence for law enforcement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 CYBER POLICE CHALLENGE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Massive Scale: </a:t>
            </a:r>
            <a:r>
              <a:rPr sz="1100">
                <a:solidFill>
                  <a:srgbClr val="94A3B8"/>
                </a:solidFill>
              </a:rPr>
              <a:t>2 Million real-world transactions across 15 banking days (Sept 15 - 29, 2026).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Rapid Fund Dispersion: </a:t>
            </a:r>
            <a:r>
              <a:rPr sz="1100">
                <a:solidFill>
                  <a:srgbClr val="94A3B8"/>
                </a:solidFill>
              </a:rPr>
              <a:t>Cybercriminals launder stolen victim funds through multi-layered mule accounts within hours.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Traditional Tool Failure: </a:t>
            </a:r>
            <a:r>
              <a:rPr sz="1100">
                <a:solidFill>
                  <a:srgbClr val="94A3B8"/>
                </a:solidFill>
              </a:rPr>
              <a:t>Legacy relational databases and CSV parsing choke on multi-hop graph traversals.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High False Positives: </a:t>
            </a:r>
            <a:r>
              <a:rPr sz="1100">
                <a:solidFill>
                  <a:srgbClr val="94A3B8"/>
                </a:solidFill>
              </a:rPr>
              <a:t>Improper data modeling leads to flawed evidence in court.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OPERATION ABHEDYA-CHAKRA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Columnar In-Process OLAP: </a:t>
            </a:r>
            <a:r>
              <a:rPr sz="1100">
                <a:solidFill>
                  <a:srgbClr val="94A3B8"/>
                </a:solidFill>
              </a:rPr>
              <a:t>DuckDB vectorized query execution embedded directly in memory.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Deterministic Primary Key: </a:t>
            </a:r>
            <a:r>
              <a:rPr sz="1100">
                <a:solidFill>
                  <a:srgbClr val="94A3B8"/>
                </a:solidFill>
              </a:rPr>
              <a:t>Synthesized immutable row_id resolving 2,250 duplicate Transaction_ID anomalies.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Strict 4-Hop Traversal: </a:t>
            </a:r>
            <a:r>
              <a:rPr sz="1100">
                <a:solidFill>
                  <a:srgbClr val="94A3B8"/>
                </a:solidFill>
              </a:rPr>
              <a:t>Mathematical frontier queries enforcing strictly later timestamps (t &gt; t_prev).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Zero-Bloat Repository: </a:t>
            </a:r>
            <a:r>
              <a:rPr sz="1100">
                <a:solidFill>
                  <a:srgbClr val="94A3B8"/>
                </a:solidFill>
              </a:rPr>
              <a:t>Clean Git footprint (&lt;25 KB code) while managing 286 MB data without bloat.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KEY DELIVERABLE METRICS</a:t>
            </a:r>
          </a:p>
          <a:p>
            <a:pPr>
              <a:spcBef>
                <a:spcPts val="1400"/>
              </a:spcBef>
              <a:defRPr sz="2200" b="1">
                <a:solidFill>
                  <a:srgbClr val="F8FAFC"/>
                </a:solidFill>
              </a:defRPr>
            </a:pPr>
            <a:r>
              <a:t>2,000,000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Transactions Verified &amp; Indexed</a:t>
            </a:r>
          </a:p>
          <a:p>
            <a:pPr>
              <a:spcBef>
                <a:spcPts val="1400"/>
              </a:spcBef>
              <a:defRPr sz="2200" b="1">
                <a:solidFill>
                  <a:srgbClr val="F8FAFC"/>
                </a:solidFill>
              </a:defRPr>
            </a:pPr>
            <a:r>
              <a:t>0.15 ms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Single-Row Random Primary Key Lookup</a:t>
            </a:r>
          </a:p>
          <a:p>
            <a:pPr>
              <a:spcBef>
                <a:spcPts val="1400"/>
              </a:spcBef>
              <a:defRPr sz="2200" b="1">
                <a:solidFill>
                  <a:srgbClr val="F8FAFC"/>
                </a:solidFill>
              </a:defRPr>
            </a:pPr>
            <a:r>
              <a:t>76.9%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Storage Compression (66 MB Parquet)</a:t>
            </a:r>
          </a:p>
          <a:p>
            <a:pPr>
              <a:spcBef>
                <a:spcPts val="1400"/>
              </a:spcBef>
              <a:defRPr sz="2200" b="1">
                <a:solidFill>
                  <a:srgbClr val="F8FAFC"/>
                </a:solidFill>
              </a:defRPr>
            </a:pPr>
            <a:r>
              <a:t>100%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Pass Rate Across All Synthetic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ARCHITECTURE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High-Throughput Forensic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Engineered for sub-millisecond querying, read-only safety, and serverless portability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4688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STORAGE ENGINE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DuckDB Columnar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Embedded OLAP engine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Zero client-server latency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Vectorized SIMD execution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Strict read-only lock safety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Native ASOF join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737360"/>
            <a:ext cx="24688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92024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DATA ARCHIVE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Apache Parquet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Compressed columnar layout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Snappy compression algorithm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Dictionary encoded strings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66.26 MB compressed footprint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Interoperable with Spark/Arrow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24688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API SERVER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FastAPI + Uvicorn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Asynchronous ASGI core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Automatic OpenAPI /docs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Sub-millisecond endpoints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Pydantic request validation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Structured JSON responses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737360"/>
            <a:ext cx="24688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92024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VALIDATION CORE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Pydantic v2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Strict schema enforcement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Regex IFSC code validation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Account number formatting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ISO 8601 timestamp parser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Zero silent type casting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DATA ENGINEERING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2M Dataset Audit &amp; Anomaly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Uncovering structural anomalies in real banking data before running graph algorithms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CRITICAL DISCOVERY: TRANSACTION_ID COLLISIONS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Why naive Transaction_ID indexing would corrupt forensic evidence: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⚠ 0 Whole-Row Duplicates: </a:t>
            </a:r>
            <a:r>
              <a:rPr sz="1000">
                <a:solidFill>
                  <a:srgbClr val="94A3B8"/>
                </a:solidFill>
              </a:rPr>
              <a:t>Every single row represents a unique financial transaction with distinct properties.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⚠ 2,250 Colliding Transaction_IDs: </a:t>
            </a:r>
            <a:r>
              <a:rPr sz="1000">
                <a:solidFill>
                  <a:srgbClr val="94A3B8"/>
                </a:solidFill>
              </a:rPr>
              <a:t>2,252 excess rows share identical Transaction_IDs with completely different accounts, amounts, or timestamps!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⚠ Real-World Root Cause: </a:t>
            </a:r>
            <a:r>
              <a:rPr sz="1000">
                <a:solidFill>
                  <a:srgbClr val="94A3B8"/>
                </a:solidFill>
              </a:rPr>
              <a:t>Payment gateways (UPI/IMPS) frequently cycle sequence IDs across different partner banks.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⚠ The Forensic Risk: </a:t>
            </a:r>
            <a:r>
              <a:rPr sz="1000">
                <a:solidFill>
                  <a:srgbClr val="94A3B8"/>
                </a:solidFill>
              </a:rPr>
              <a:t>Indexing by Transaction_ID causes overwrites or false cyclic graph links in police traces.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422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936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 SOLUTION: IMMUTABLE row_id PRIMARY KEY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✔ Synthesized Primary Key: </a:t>
            </a:r>
            <a:r>
              <a:rPr sz="1000">
                <a:solidFill>
                  <a:srgbClr val="94A3B8"/>
                </a:solidFill>
              </a:rPr>
              <a:t>Generated an explicit, immutable integer primary key `row_id` (1 to 2,000,000) mapped deterministically to row position.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✔ Mathematical Determinism Proof: </a:t>
            </a:r>
            <a:r>
              <a:rPr sz="1000">
                <a:solidFill>
                  <a:srgbClr val="94A3B8"/>
                </a:solidFill>
              </a:rPr>
              <a:t>Proved 0 ties across an 11-column ORDER BY in `make_dup_proof.py`. Sorting is 100% stable.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✔ DuckDB &amp; Parquet Parity: </a:t>
            </a:r>
            <a:r>
              <a:rPr sz="1000">
                <a:solidFill>
                  <a:srgbClr val="94A3B8"/>
                </a:solidFill>
              </a:rPr>
              <a:t>Rebuilt data storage (`rebuild_data.py`) guaranteeing identical row_id ordering across DuckDB and Parquet files.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✔ Audit Verification: </a:t>
            </a:r>
            <a:r>
              <a:rPr sz="1000">
                <a:solidFill>
                  <a:srgbClr val="94A3B8"/>
                </a:solidFill>
              </a:rPr>
              <a:t>`verify_hardening.py` automatically checks row_id continuity and prevents any accidental data drift.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PERFORMANCE &amp;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Storage Compression &amp; Sub-Millisecond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Empirical storage footprint reduction and query latency benchmarks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286.79 MB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Raw Ingestion CSV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Uncompressed, slow text parsing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352.76 MB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DuckDB Database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Fully indexed, strongly typed OLAP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66.26 MB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Parquet Columnar Archive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76.9% Storage Reduction (Snappy)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0728655" cy="2651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EMPIRICAL BENCHMARK RESULTS (benchmark_phase1.py)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8FAFC"/>
                </a:solidFill>
              </a:rPr>
              <a:t>• Random Primary Key Lookup (row_id = ?): </a:t>
            </a:r>
            <a:r>
              <a:rPr sz="1100" b="1">
                <a:solidFill>
                  <a:srgbClr val="F59E0B"/>
                </a:solidFill>
              </a:rPr>
              <a:t>0.15 ms  </a:t>
            </a:r>
            <a:r>
              <a:rPr sz="1000">
                <a:solidFill>
                  <a:srgbClr val="94A3B8"/>
                </a:solidFill>
              </a:rPr>
              <a:t>(DuckDB evaluates indexed row_id in sub-millisecond time)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8FAFC"/>
                </a:solidFill>
              </a:rPr>
              <a:t>• Date Range Filter (2026-09-15 to 2026-09-18): </a:t>
            </a:r>
            <a:r>
              <a:rPr sz="1100" b="1">
                <a:solidFill>
                  <a:srgbClr val="F59E0B"/>
                </a:solidFill>
              </a:rPr>
              <a:t>4.82 ms  </a:t>
            </a:r>
            <a:r>
              <a:rPr sz="1000">
                <a:solidFill>
                  <a:srgbClr val="94A3B8"/>
                </a:solidFill>
              </a:rPr>
              <a:t>(Scans 533,489 transactions in under 5 milliseconds)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8FAFC"/>
                </a:solidFill>
              </a:rPr>
              <a:t>• Full 2,000,000 Aggregation (SUM, AVG, COUNT): </a:t>
            </a:r>
            <a:r>
              <a:rPr sz="1100" b="1">
                <a:solidFill>
                  <a:srgbClr val="F59E0B"/>
                </a:solidFill>
              </a:rPr>
              <a:t>12.40 ms  </a:t>
            </a:r>
            <a:r>
              <a:rPr sz="1000">
                <a:solidFill>
                  <a:srgbClr val="94A3B8"/>
                </a:solidFill>
              </a:rPr>
              <a:t>(Vectorized execution calculates across 2M rows in 12 ms)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8FAFC"/>
                </a:solidFill>
              </a:rPr>
              <a:t>• High-Frequency Account Outgoing Trace: </a:t>
            </a:r>
            <a:r>
              <a:rPr sz="1100" b="1">
                <a:solidFill>
                  <a:srgbClr val="F59E0B"/>
                </a:solidFill>
              </a:rPr>
              <a:t>0.85 ms  </a:t>
            </a:r>
            <a:r>
              <a:rPr sz="1000">
                <a:solidFill>
                  <a:srgbClr val="94A3B8"/>
                </a:solidFill>
              </a:rPr>
              <a:t>(Filters 122 outgoing transactions for top-volume senders instantly)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BACKEND CODE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Hardened Backend Modules &amp; API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Clean separation of concerns with thread-safe pooling and schema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backend/db.py</a:t>
            </a:r>
          </a:p>
          <a:p>
            <a:pPr>
              <a:spcBef>
                <a:spcPts val="400"/>
              </a:spcBef>
              <a:defRPr sz="1500" b="1">
                <a:solidFill>
                  <a:srgbClr val="F8FAFC"/>
                </a:solidFill>
              </a:defRPr>
            </a:pPr>
            <a:r>
              <a:t>Connection Lifecycle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✔ Manages DuckDB connections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✔ Enforces read_only=True default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✔ Auto-configures thread pool (4 threads)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✔ Sets memory limits (4GB cap)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✔ Prevents multi-process file corruption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✔ Handles connection close 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backend/data_access.py</a:t>
            </a:r>
          </a:p>
          <a:p>
            <a:pPr>
              <a:spcBef>
                <a:spcPts val="400"/>
              </a:spcBef>
              <a:defRPr sz="1500" b="1">
                <a:solidFill>
                  <a:srgbClr val="F8FAFC"/>
                </a:solidFill>
              </a:defRPr>
            </a:pPr>
            <a:r>
              <a:t>Repository Pattern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✔ Typed transaction fetch by row_id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✔ Date range &amp; account query filters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✔ High-outdegree receiver ranking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✔ Paging with deterministic ORDER BY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✔ Zero SQL injection via parameterized queries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✔ Converts raw tuples to typed dicts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backend/validation.py &amp; main.py</a:t>
            </a:r>
          </a:p>
          <a:p>
            <a:pPr>
              <a:spcBef>
                <a:spcPts val="400"/>
              </a:spcBef>
              <a:defRPr sz="1500" b="1">
                <a:solidFill>
                  <a:srgbClr val="F8FAFC"/>
                </a:solidFill>
              </a:defRPr>
            </a:pPr>
            <a:r>
              <a:t>FastAPI &amp; Pydantic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✔ TransactionRecord Pydantic model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✔ IFSC format verification regex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✔ Positive amount constraint (&gt; 0.0)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✔ FastAPI GET /health endpoint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✔ GET /transactions/{row_id} endpoint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✔ Auto OpenAPI documentation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Automated Verification Suite &amp; Clean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Self-auditing test harnesses and strict .gitignore rules committed to GitHub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AUTOMATED TEST HARNESSES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✔ verify_hardening.py: </a:t>
            </a:r>
            <a:r>
              <a:rPr sz="1000">
                <a:solidFill>
                  <a:srgbClr val="94A3B8"/>
                </a:solidFill>
              </a:rPr>
              <a:t>6-step regression suite checking file presence, schema conformity, row count (2M), row_id sequence, and API response.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✔ make_dup_proof.py: </a:t>
            </a:r>
            <a:r>
              <a:rPr sz="1000">
                <a:solidFill>
                  <a:srgbClr val="94A3B8"/>
                </a:solidFill>
              </a:rPr>
              <a:t>Mathematically proves 0 whole-row duplicates and verifies 0 ties across 11-column sorting order.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✔ rebuild_data.py: </a:t>
            </a:r>
            <a:r>
              <a:rPr sz="1000">
                <a:solidFill>
                  <a:srgbClr val="94A3B8"/>
                </a:solidFill>
              </a:rPr>
              <a:t>Deterministic ingestion pipeline verifying exact row_id matches between DuckDB and Parquet.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✔ 100% Pass Guarantee: </a:t>
            </a:r>
            <a:r>
              <a:rPr sz="1000">
                <a:solidFill>
                  <a:srgbClr val="94A3B8"/>
                </a:solidFill>
              </a:rPr>
              <a:t>Every test script runs standalone with exit code 0 and self-verifying assertion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422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936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GIT REPOSITORY HYGIENE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✔ .gitignore Protection: </a:t>
            </a:r>
            <a:r>
              <a:rPr sz="1000">
                <a:solidFill>
                  <a:srgbClr val="94A3B8"/>
                </a:solidFill>
              </a:rPr>
              <a:t>Strictly excludes data/*.duckdb, data/*.parquet, and the raw 286 MB CSV file from git commits.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✔ Lightweight Repo Size: </a:t>
            </a:r>
            <a:r>
              <a:rPr sz="1000">
                <a:solidFill>
                  <a:srgbClr val="94A3B8"/>
                </a:solidFill>
              </a:rPr>
              <a:t>Entire GitHub repository is under 25 KB of clean code, YAML configs, and Markdown docs.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✔ Team Documentation: </a:t>
            </a:r>
            <a:r>
              <a:rPr sz="1000">
                <a:solidFill>
                  <a:srgbClr val="94A3B8"/>
                </a:solidFill>
              </a:rPr>
              <a:t>Committed README_FOR_TEAM.md and DATASET_REPORT.md for instant developer onboarding.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✔ Fast Cloning &amp; CI/CD: </a:t>
            </a:r>
            <a:r>
              <a:rPr sz="1000">
                <a:solidFill>
                  <a:srgbClr val="94A3B8"/>
                </a:solidFill>
              </a:rPr>
              <a:t>Team members can clone the repo in &lt; 2 seconds without downloading heavy datasets over git.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TRACE ENGINE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Phase 2 Step 1: 4-Hop Onward Flow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Hop contract, temporal ordering, and cycle detection rules in backend/trace.py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4688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HOP 1 (H1)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</a:defRPr>
            </a:pPr>
            <a:r>
              <a:t>Starting Transaction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Explicit starting row_id provided by investigator. Base victim transfer.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737360"/>
            <a:ext cx="24688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8745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HOP 2 (H2)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</a:defRPr>
            </a:pPr>
            <a:r>
              <a:t>Level 1 Onward (L1)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Outgoing transactions from start receiver. Strict constraint: Timestamp &gt; start_ts.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24688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745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HOP 3 (H3)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</a:defRPr>
            </a:pPr>
            <a:r>
              <a:t>Level 2 Onward (L2)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Outgoing transactions from L1 receivers. Prevents cycles &amp; returning to victim.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737360"/>
            <a:ext cx="24688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8745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HOP 4 (H4)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</a:defRPr>
            </a:pPr>
            <a:r>
              <a:t>Level 3 Onward (L3)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Final layer (4 txns total in path). 5th hop strictly rejected &amp; never executed.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10728655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CORE TRAVERSAL CONSTRAINTS &amp; EVIDENCE CAPTURE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8FAFC"/>
                </a:solidFill>
              </a:rPr>
              <a:t>• Strict Temporal Ordering: </a:t>
            </a:r>
            <a:r>
              <a:rPr sz="1000">
                <a:solidFill>
                  <a:srgbClr val="94A3B8"/>
                </a:solidFill>
              </a:rPr>
              <a:t>Candidates must have Timestamp &gt; prev_ts. Equal-timestamp ties (same second) are skipped and counted separately.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8FAFC"/>
                </a:solidFill>
              </a:rPr>
              <a:t>• Cycle Prevention &amp; Evidence: </a:t>
            </a:r>
            <a:r>
              <a:rPr sz="1000">
                <a:solidFill>
                  <a:srgbClr val="94A3B8"/>
                </a:solidFill>
              </a:rPr>
              <a:t>Accounts already visited in path are pruned to prevent loops. Cycles returning to victim are explicitly flagged as evidence.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8FAFC"/>
                </a:solidFill>
              </a:rPr>
              <a:t>• Disclaimer Contract: </a:t>
            </a:r>
            <a:r>
              <a:rPr sz="1000">
                <a:solidFill>
                  <a:srgbClr val="94A3B8"/>
                </a:solidFill>
              </a:rPr>
              <a:t>Engine asserts 'possible onward flow only' — never falsely claims proven fraud before risk scoring.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8FAFC"/>
                </a:solidFill>
              </a:rPr>
              <a:t>• 100% Synthetic Test Success: </a:t>
            </a:r>
            <a:r>
              <a:rPr sz="1000">
                <a:solidFill>
                  <a:srgbClr val="94A3B8"/>
                </a:solidFill>
              </a:rPr>
              <a:t>9 out of 9 unit tests passed in test_trace_synthetic.py validating 4-hop bounds, duplicate row_ids, and cycles.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EMPIRICAL MEASUREMENTS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2M Benchmark &amp; Scientific Timing Measurements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Real measured numbers from the 22-run benchmark and Step 1B full dataset ASOF join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22-RUN STRATIFIED BENCHMARK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✔ Completed Runs (16 / 22): </a:t>
            </a:r>
            <a:r>
              <a:rPr sz="1000">
                <a:solidFill>
                  <a:srgbClr val="94A3B8"/>
                </a:solidFill>
              </a:rPr>
              <a:t>Average latency: 1,281 ms | Min: 16.15 ms (Day 15) | Max: 3,016 ms (Day 7).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✔ Late Dates Finish Instantly: </a:t>
            </a:r>
            <a:r>
              <a:rPr sz="1000">
                <a:solidFill>
                  <a:srgbClr val="94A3B8"/>
                </a:solidFill>
              </a:rPr>
              <a:t>Days 13-15 finish in 16 ms to 288 ms with compact frontier sizes (&lt; 300 paths).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✔ Timeout Starts (6 / 22): </a:t>
            </a:r>
            <a:r>
              <a:rPr sz="1000">
                <a:solidFill>
                  <a:srgbClr val="94A3B8"/>
                </a:solidFill>
              </a:rPr>
              <a:t>All 6 timeouts occur on Day 1 (Sept 15) starts where uncapped traversal branches over 14 remaining days!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✔ High-Outdegree Branching: </a:t>
            </a:r>
            <a:r>
              <a:rPr sz="1000">
                <a:solidFill>
                  <a:srgbClr val="94A3B8"/>
                </a:solidFill>
              </a:rPr>
              <a:t>Transactions into high-outdegree receivers (e.g. SBIN10012624, outdeg=122) expand to 163,984 candidates at H4.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✔ Memory &amp; Concurrency: </a:t>
            </a:r>
            <a:r>
              <a:rPr sz="1000">
                <a:solidFill>
                  <a:srgbClr val="94A3B8"/>
                </a:solidFill>
              </a:rPr>
              <a:t>DuckDB con.interrupt() aborted long queries cleanly at 3.0s; peak RSS reached 562 MB.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422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936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TIMING &amp; AMOUNT BEHAVIOR (STEP 1B)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✔ Full ASOF Join on 2M Rows: </a:t>
            </a:r>
            <a:r>
              <a:rPr sz="1000">
                <a:solidFill>
                  <a:srgbClr val="94A3B8"/>
                </a:solidFill>
              </a:rPr>
              <a:t>Evaluated in 0.82 seconds! 1,975,017 incoming txns (98.75%) have a later outgoing transaction.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✔ First Outgoing Time Gap: </a:t>
            </a:r>
            <a:r>
              <a:rPr sz="1000">
                <a:solidFill>
                  <a:srgbClr val="94A3B8"/>
                </a:solidFill>
              </a:rPr>
              <a:t>Median time gap is 2.90 hours (10,446 s). 54.86% occur within 1 to 6 hours! Smooth unimodal distribution.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✔ Amount Ratio (a_out / a_in): </a:t>
            </a:r>
            <a:r>
              <a:rPr sz="1000">
                <a:solidFill>
                  <a:srgbClr val="94A3B8"/>
                </a:solidFill>
              </a:rPr>
              <a:t>Median ratio is 0.9997 (centered at 1.00). Continuous log-symmetric distribution without discrete spikes.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✔ Global Amount Matching (50k sample): </a:t>
            </a:r>
            <a:r>
              <a:rPr sz="1000">
                <a:solidFill>
                  <a:srgbClr val="94A3B8"/>
                </a:solidFill>
              </a:rPr>
              <a:t>56.67% of incoming txns have a later outgoing within 5% of amount, but time gap shifts to 2.93 days median!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✔ Key Forensic Insight: </a:t>
            </a:r>
            <a:r>
              <a:rPr sz="1000">
                <a:solidFill>
                  <a:srgbClr val="94A3B8"/>
                </a:solidFill>
              </a:rPr>
              <a:t>Proves that capping by both time window (1-6 hrs) and amount closeness is mathematically essential for Step 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PROJECT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Next Engineering Milestones for Void Hacks 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Step-by-step roadmap from data foundation to police forensic intelligence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4688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PHASE 1 + STEP 1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Data Foundation &amp; Baseline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✔ 2M row_id determinism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✔ DuckDB + Parquet storage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✔ FastAPI backend server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✔ 4-hop trace engine logic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✔ Empirical measurements</a:t>
            </a:r>
          </a:p>
          <a:p>
            <a:pPr>
              <a:spcBef>
                <a:spcPts val="800"/>
              </a:spcBef>
              <a:defRPr sz="1050" b="1">
                <a:solidFill>
                  <a:srgbClr val="10B981"/>
                </a:solidFill>
              </a:defRPr>
            </a:pPr>
            <a:r>
              <a:t>STATUS: COMPLETED &amp; COMMITTED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737360"/>
            <a:ext cx="24688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PHASE 2 - STEP 2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Intelligent Traversal Capping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• Mathematical cap selection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• Time window bounding (1-6h)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• Amount closeness scoring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• Priority queue branching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• Pruning cold non-mule paths</a:t>
            </a:r>
          </a:p>
          <a:p>
            <a:pPr>
              <a:spcBef>
                <a:spcPts val="800"/>
              </a:spcBef>
              <a:defRPr sz="1050" b="1">
                <a:solidFill>
                  <a:srgbClr val="38BDF8"/>
                </a:solidFill>
              </a:defRPr>
            </a:pPr>
            <a:r>
              <a:t>STATUS: NEXT IMMEDIATE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24688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PHASE 2 - STEP 3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Mule Risk Scoring Engine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• Fan-out / Fan-in velocity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• Rapid pass-through ratio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• Dormant account activation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• Multi-layer flow progression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• Explainable risk score (0-100)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STATUS: IN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737360"/>
            <a:ext cx="24688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3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Forensic Visual Dashboard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• Interactive Cytoscape graph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• Multi-hop path visualizer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• Layer-by-layer drilldown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• Police case export report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• Real-time investigative UI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STATUS: UPCOMING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